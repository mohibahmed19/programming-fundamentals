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71" r:id="rId4"/>
    <p:sldId id="258" r:id="rId5"/>
    <p:sldId id="259" r:id="rId6"/>
    <p:sldId id="260" r:id="rId7"/>
    <p:sldId id="261" r:id="rId8"/>
    <p:sldId id="262" r:id="rId9"/>
    <p:sldId id="263" r:id="rId10"/>
    <p:sldId id="270" r:id="rId11"/>
    <p:sldId id="266" r:id="rId12"/>
    <p:sldId id="268" r:id="rId13"/>
    <p:sldId id="269" r:id="rId14"/>
  </p:sldIdLst>
  <p:sldSz cx="18288000" cy="10287000"/>
  <p:notesSz cx="6858000" cy="9144000"/>
  <p:embeddedFontLst>
    <p:embeddedFont>
      <p:font typeface="Georgia Pro Light" panose="020B0604020202020204" charset="0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DM Sans" panose="020B0604020202020204" charset="0"/>
      <p:regular r:id="rId20"/>
    </p:embeddedFont>
    <p:embeddedFont>
      <p:font typeface="DM Sans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740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8991600" cy="10287000"/>
            <a:chOff x="0" y="0"/>
            <a:chExt cx="1035548" cy="11847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5548" cy="1184737"/>
            </a:xfrm>
            <a:custGeom>
              <a:avLst/>
              <a:gdLst/>
              <a:ahLst/>
              <a:cxnLst/>
              <a:rect l="l" t="t" r="r" b="b"/>
              <a:pathLst>
                <a:path w="1035548" h="1184737">
                  <a:moveTo>
                    <a:pt x="0" y="0"/>
                  </a:moveTo>
                  <a:lnTo>
                    <a:pt x="1035548" y="0"/>
                  </a:lnTo>
                  <a:lnTo>
                    <a:pt x="1035548" y="1184737"/>
                  </a:lnTo>
                  <a:lnTo>
                    <a:pt x="0" y="1184737"/>
                  </a:lnTo>
                  <a:close/>
                </a:path>
              </a:pathLst>
            </a:custGeom>
            <a:blipFill>
              <a:blip r:embed="rId2"/>
              <a:stretch>
                <a:fillRect t="-378" b="-37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0744200" y="666750"/>
            <a:ext cx="6877050" cy="585084"/>
            <a:chOff x="0" y="0"/>
            <a:chExt cx="9169400" cy="780112"/>
          </a:xfrm>
        </p:grpSpPr>
        <p:sp>
          <p:nvSpPr>
            <p:cNvPr id="5" name="Freeform 5"/>
            <p:cNvSpPr/>
            <p:nvPr/>
          </p:nvSpPr>
          <p:spPr>
            <a:xfrm rot="-5400000" flipH="1">
              <a:off x="36553" y="74861"/>
              <a:ext cx="555143" cy="628248"/>
            </a:xfrm>
            <a:custGeom>
              <a:avLst/>
              <a:gdLst/>
              <a:ahLst/>
              <a:cxnLst/>
              <a:rect l="l" t="t" r="r" b="b"/>
              <a:pathLst>
                <a:path w="555143" h="628248">
                  <a:moveTo>
                    <a:pt x="555143" y="0"/>
                  </a:moveTo>
                  <a:lnTo>
                    <a:pt x="0" y="0"/>
                  </a:lnTo>
                  <a:lnTo>
                    <a:pt x="0" y="628248"/>
                  </a:lnTo>
                  <a:lnTo>
                    <a:pt x="555143" y="628248"/>
                  </a:lnTo>
                  <a:lnTo>
                    <a:pt x="555143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795304" y="95250"/>
              <a:ext cx="8374096" cy="6848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55"/>
                </a:lnSpc>
              </a:pPr>
              <a:r>
                <a:rPr lang="en-US" sz="3864" spc="-77">
                  <a:solidFill>
                    <a:srgbClr val="A8DADC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Cinema Solutions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734675" y="1712119"/>
            <a:ext cx="6886575" cy="4889525"/>
            <a:chOff x="0" y="200025"/>
            <a:chExt cx="9182100" cy="6519366"/>
          </a:xfrm>
        </p:grpSpPr>
        <p:sp>
          <p:nvSpPr>
            <p:cNvPr id="8" name="TextBox 8"/>
            <p:cNvSpPr txBox="1"/>
            <p:nvPr/>
          </p:nvSpPr>
          <p:spPr>
            <a:xfrm>
              <a:off x="0" y="200025"/>
              <a:ext cx="9182100" cy="54514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99"/>
                </a:lnSpc>
              </a:pPr>
              <a:r>
                <a:rPr lang="en-US" sz="10499" dirty="0">
                  <a:solidFill>
                    <a:srgbClr val="F1FAEE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Ticket Booking </a:t>
              </a:r>
              <a:r>
                <a:rPr lang="en-US" sz="10499" dirty="0" smtClean="0">
                  <a:solidFill>
                    <a:srgbClr val="F1FAEE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System</a:t>
              </a:r>
              <a:endParaRPr lang="en-US" sz="10499" dirty="0">
                <a:solidFill>
                  <a:srgbClr val="F1FAEE"/>
                </a:solidFill>
                <a:latin typeface="Georgia Pro Light"/>
                <a:ea typeface="Georgia Pro Light"/>
                <a:cs typeface="Georgia Pro Light"/>
                <a:sym typeface="Georgia Pro Light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5902415"/>
              <a:ext cx="9172671" cy="8169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039"/>
                </a:lnSpc>
              </a:pPr>
              <a:endParaRPr lang="en-US" sz="3599" dirty="0">
                <a:solidFill>
                  <a:srgbClr val="A8DADC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744201" y="5988912"/>
            <a:ext cx="4343399" cy="3631878"/>
            <a:chOff x="0" y="-47625"/>
            <a:chExt cx="7658100" cy="4135293"/>
          </a:xfrm>
        </p:grpSpPr>
        <p:sp>
          <p:nvSpPr>
            <p:cNvPr id="11" name="TextBox 11"/>
            <p:cNvSpPr txBox="1"/>
            <p:nvPr/>
          </p:nvSpPr>
          <p:spPr>
            <a:xfrm>
              <a:off x="0" y="691345"/>
              <a:ext cx="7658100" cy="33963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US" sz="2400" dirty="0" smtClean="0">
                  <a:solidFill>
                    <a:schemeClr val="bg1"/>
                  </a:solidFill>
                </a:rPr>
                <a:t>Members: Mohib Ahmed (CT 178)</a:t>
              </a:r>
            </a:p>
            <a:p>
              <a:r>
                <a:rPr lang="en-US" sz="2400" dirty="0" err="1" smtClean="0">
                  <a:solidFill>
                    <a:schemeClr val="bg1"/>
                  </a:solidFill>
                </a:rPr>
                <a:t>Shayan</a:t>
              </a:r>
              <a:r>
                <a:rPr lang="en-US" sz="2400" dirty="0" smtClean="0">
                  <a:solidFill>
                    <a:schemeClr val="bg1"/>
                  </a:solidFill>
                </a:rPr>
                <a:t> Ali (CT 198)</a:t>
              </a:r>
            </a:p>
            <a:p>
              <a:r>
                <a:rPr lang="en-US" sz="2400" dirty="0" err="1" smtClean="0">
                  <a:solidFill>
                    <a:schemeClr val="bg1"/>
                  </a:solidFill>
                </a:rPr>
                <a:t>Anas</a:t>
              </a:r>
              <a:r>
                <a:rPr lang="en-US" sz="2400" dirty="0" smtClean="0">
                  <a:solidFill>
                    <a:schemeClr val="bg1"/>
                  </a:solidFill>
                </a:rPr>
                <a:t> </a:t>
              </a:r>
              <a:r>
                <a:rPr lang="en-US" sz="2400" dirty="0" err="1" smtClean="0">
                  <a:solidFill>
                    <a:schemeClr val="bg1"/>
                  </a:solidFill>
                </a:rPr>
                <a:t>Shahid</a:t>
              </a:r>
              <a:r>
                <a:rPr lang="en-US" sz="2400" dirty="0" smtClean="0">
                  <a:solidFill>
                    <a:schemeClr val="bg1"/>
                  </a:solidFill>
                </a:rPr>
                <a:t> (CT 179)</a:t>
              </a:r>
            </a:p>
            <a:p>
              <a:r>
                <a:rPr lang="en-US" sz="2400" dirty="0" smtClean="0">
                  <a:solidFill>
                    <a:schemeClr val="bg1"/>
                  </a:solidFill>
                </a:rPr>
                <a:t>Course</a:t>
              </a:r>
              <a:r>
                <a:rPr lang="en-US" sz="2400" dirty="0">
                  <a:solidFill>
                    <a:schemeClr val="bg1"/>
                  </a:solidFill>
                </a:rPr>
                <a:t>: CCP 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Instructors: Sir Abdullah 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NED University of Engineering and Technology</a:t>
              </a:r>
            </a:p>
            <a:p>
              <a:pPr marL="0" lvl="0" indent="0" algn="l">
                <a:lnSpc>
                  <a:spcPts val="3080"/>
                </a:lnSpc>
                <a:spcBef>
                  <a:spcPct val="0"/>
                </a:spcBef>
              </a:pPr>
              <a:endParaRPr lang="en-US" sz="2200" dirty="0">
                <a:solidFill>
                  <a:srgbClr val="F1FAEE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7658100" cy="5887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endParaRPr lang="en-US" sz="2600" b="1" dirty="0">
                <a:solidFill>
                  <a:srgbClr val="A8DADC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7B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716756"/>
            <a:ext cx="8324850" cy="5187518"/>
            <a:chOff x="0" y="66675"/>
            <a:chExt cx="11099800" cy="6916691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30405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>
                  <a:solidFill>
                    <a:srgbClr val="F1FAEE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Cinema Ticket Booking System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533703"/>
              <a:ext cx="11099800" cy="34496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40"/>
                </a:lnSpc>
              </a:pPr>
              <a:r>
                <a:rPr lang="en-US" sz="2400" dirty="0">
                  <a:solidFill>
                    <a:schemeClr val="bg1"/>
                  </a:solidFill>
                </a:rPr>
                <a:t>This project is a simple Cinema Ticket Booking System written in the C language. It allows users to view available seats, book tickets, and cancel bookings. The goal is to simulate a basic cinema ticket counter system using loops, conditional statements, and input validation. The program demonstrates structured programming concepts and menu-driven design.</a:t>
              </a:r>
            </a:p>
            <a:p>
              <a:pPr marL="0" lvl="0" indent="0" algn="l">
                <a:lnSpc>
                  <a:spcPts val="2940"/>
                </a:lnSpc>
              </a:pPr>
              <a:endParaRPr lang="en-US" sz="2100" dirty="0">
                <a:solidFill>
                  <a:srgbClr val="F1FAEE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0"/>
            <a:ext cx="11353800" cy="1005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556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716756"/>
            <a:ext cx="8324850" cy="7404150"/>
            <a:chOff x="0" y="66675"/>
            <a:chExt cx="11099800" cy="9872197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15046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8800"/>
                </a:lnSpc>
              </a:pPr>
              <a:r>
                <a:rPr lang="en-US" sz="8000" dirty="0">
                  <a:solidFill>
                    <a:schemeClr val="bg1"/>
                  </a:solidFill>
                </a:rPr>
                <a:t>Code Setup</a:t>
              </a:r>
              <a:endParaRPr lang="en-US" sz="8000" dirty="0">
                <a:solidFill>
                  <a:schemeClr val="bg1"/>
                </a:solidFill>
                <a:latin typeface="Georgia Pro Light"/>
                <a:ea typeface="Georgia Pro Light"/>
                <a:cs typeface="Georgia Pro Light"/>
                <a:sym typeface="Georgia Pro Light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533702"/>
              <a:ext cx="11099800" cy="64051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</a:rPr>
                <a:t>The program includes the standard libraries: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- </a:t>
              </a:r>
              <a:r>
                <a:rPr lang="en-US" sz="2400" dirty="0" err="1">
                  <a:solidFill>
                    <a:schemeClr val="bg1"/>
                  </a:solidFill>
                </a:rPr>
                <a:t>stdio.h</a:t>
              </a:r>
              <a:r>
                <a:rPr lang="en-US" sz="2400" dirty="0">
                  <a:solidFill>
                    <a:schemeClr val="bg1"/>
                  </a:solidFill>
                </a:rPr>
                <a:t> for input and output functions (</a:t>
              </a:r>
              <a:r>
                <a:rPr lang="en-US" sz="2400" dirty="0" err="1">
                  <a:solidFill>
                    <a:schemeClr val="bg1"/>
                  </a:solidFill>
                </a:rPr>
                <a:t>printf</a:t>
              </a:r>
              <a:r>
                <a:rPr lang="en-US" sz="2400" dirty="0">
                  <a:solidFill>
                    <a:schemeClr val="bg1"/>
                  </a:solidFill>
                </a:rPr>
                <a:t>, </a:t>
              </a:r>
              <a:r>
                <a:rPr lang="en-US" sz="2400" dirty="0" err="1">
                  <a:solidFill>
                    <a:schemeClr val="bg1"/>
                  </a:solidFill>
                </a:rPr>
                <a:t>scanf</a:t>
              </a:r>
              <a:r>
                <a:rPr lang="en-US" sz="2400" dirty="0">
                  <a:solidFill>
                    <a:schemeClr val="bg1"/>
                  </a:solidFill>
                </a:rPr>
                <a:t>)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- </a:t>
              </a:r>
              <a:r>
                <a:rPr lang="en-US" sz="2400" dirty="0" err="1">
                  <a:solidFill>
                    <a:schemeClr val="bg1"/>
                  </a:solidFill>
                </a:rPr>
                <a:t>stdlib.h</a:t>
              </a:r>
              <a:r>
                <a:rPr lang="en-US" sz="2400" dirty="0">
                  <a:solidFill>
                    <a:schemeClr val="bg1"/>
                  </a:solidFill>
                </a:rPr>
                <a:t> for system() function to clear the screen</a:t>
              </a:r>
            </a:p>
            <a:p>
              <a:endParaRPr lang="en-US" sz="2400" dirty="0">
                <a:solidFill>
                  <a:schemeClr val="bg1"/>
                </a:solidFill>
              </a:endParaRPr>
            </a:p>
            <a:p>
              <a:r>
                <a:rPr lang="en-US" sz="2400" dirty="0">
                  <a:solidFill>
                    <a:schemeClr val="bg1"/>
                  </a:solidFill>
                </a:rPr>
                <a:t>Variables Used: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- </a:t>
              </a:r>
              <a:r>
                <a:rPr lang="en-US" sz="2400" dirty="0" err="1">
                  <a:solidFill>
                    <a:schemeClr val="bg1"/>
                  </a:solidFill>
                </a:rPr>
                <a:t>totalSeats</a:t>
              </a:r>
              <a:r>
                <a:rPr lang="en-US" sz="2400" dirty="0">
                  <a:solidFill>
                    <a:schemeClr val="bg1"/>
                  </a:solidFill>
                </a:rPr>
                <a:t> = 50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- </a:t>
              </a:r>
              <a:r>
                <a:rPr lang="en-US" sz="2400" dirty="0" err="1">
                  <a:solidFill>
                    <a:schemeClr val="bg1"/>
                  </a:solidFill>
                </a:rPr>
                <a:t>bookedSeats</a:t>
              </a:r>
              <a:r>
                <a:rPr lang="en-US" sz="2400" dirty="0">
                  <a:solidFill>
                    <a:schemeClr val="bg1"/>
                  </a:solidFill>
                </a:rPr>
                <a:t> = 0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- </a:t>
              </a:r>
              <a:r>
                <a:rPr lang="en-US" sz="2400" dirty="0" err="1">
                  <a:solidFill>
                    <a:schemeClr val="bg1"/>
                  </a:solidFill>
                </a:rPr>
                <a:t>ticketPrice</a:t>
              </a:r>
              <a:r>
                <a:rPr lang="en-US" sz="2400" dirty="0">
                  <a:solidFill>
                    <a:schemeClr val="bg1"/>
                  </a:solidFill>
                </a:rPr>
                <a:t> = 400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- tickets, </a:t>
              </a:r>
              <a:r>
                <a:rPr lang="en-US" sz="2400" dirty="0" err="1">
                  <a:solidFill>
                    <a:schemeClr val="bg1"/>
                  </a:solidFill>
                </a:rPr>
                <a:t>totalAmount</a:t>
              </a:r>
              <a:r>
                <a:rPr lang="en-US" sz="2400" dirty="0">
                  <a:solidFill>
                    <a:schemeClr val="bg1"/>
                  </a:solidFill>
                </a:rPr>
                <a:t>, choice</a:t>
              </a:r>
            </a:p>
            <a:p>
              <a:endParaRPr lang="en-US" sz="2400" dirty="0">
                <a:solidFill>
                  <a:schemeClr val="bg1"/>
                </a:solidFill>
              </a:endParaRPr>
            </a:p>
            <a:p>
              <a:r>
                <a:rPr lang="en-US" sz="2400" dirty="0">
                  <a:solidFill>
                    <a:schemeClr val="bg1"/>
                  </a:solidFill>
                </a:rPr>
                <a:t>These variables help manage seat availability, ticket price, and user menu selections.</a:t>
              </a:r>
            </a:p>
            <a:p>
              <a:pPr marL="0" lvl="0" indent="0" algn="l">
                <a:lnSpc>
                  <a:spcPts val="2940"/>
                </a:lnSpc>
              </a:pPr>
              <a:endParaRPr lang="en-US" sz="2100" dirty="0">
                <a:solidFill>
                  <a:srgbClr val="F1FAEE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7B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716755"/>
            <a:ext cx="8324850" cy="6665487"/>
            <a:chOff x="0" y="66674"/>
            <a:chExt cx="11099800" cy="8887318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4"/>
              <a:ext cx="11099800" cy="15046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8800"/>
                </a:lnSpc>
              </a:pPr>
              <a:r>
                <a:rPr lang="en-US" sz="8000" dirty="0">
                  <a:solidFill>
                    <a:schemeClr val="bg1"/>
                  </a:solidFill>
                </a:rPr>
                <a:t>Main Function Flow</a:t>
              </a:r>
              <a:endParaRPr lang="en-US" sz="8000" dirty="0">
                <a:solidFill>
                  <a:schemeClr val="bg1"/>
                </a:solidFill>
                <a:latin typeface="Georgia Pro Light"/>
                <a:ea typeface="Georgia Pro Light"/>
                <a:cs typeface="Georgia Pro Light"/>
                <a:sym typeface="Georgia Pro Light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533704"/>
              <a:ext cx="11099800" cy="54202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</a:rPr>
                <a:t>The main function controls the program’s flow using a do-while loop. It repeatedly displays a menu with options: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1. View Available Seats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2. Book Tickets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3. Cancel Tickets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4. Exit</a:t>
              </a:r>
            </a:p>
            <a:p>
              <a:endParaRPr lang="en-US" sz="2400" dirty="0">
                <a:solidFill>
                  <a:schemeClr val="bg1"/>
                </a:solidFill>
              </a:endParaRPr>
            </a:p>
            <a:p>
              <a:r>
                <a:rPr lang="en-US" sz="2400" dirty="0">
                  <a:solidFill>
                    <a:schemeClr val="bg1"/>
                  </a:solidFill>
                </a:rPr>
                <a:t>The user’s choice is taken as input and processed using a switch-case structure. This approach ensures the program runs continuously until the user chooses to exit.</a:t>
              </a:r>
            </a:p>
            <a:p>
              <a:pPr marL="0" lvl="0" indent="0" algn="l">
                <a:lnSpc>
                  <a:spcPts val="2940"/>
                </a:lnSpc>
              </a:pPr>
              <a:endParaRPr lang="en-US" sz="21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75132" y="716756"/>
            <a:ext cx="8337042" cy="6653294"/>
            <a:chOff x="0" y="66675"/>
            <a:chExt cx="11116056" cy="8871061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15046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8800"/>
                </a:lnSpc>
              </a:pPr>
              <a:r>
                <a:rPr lang="en-US" sz="8000" dirty="0">
                  <a:solidFill>
                    <a:schemeClr val="bg1"/>
                  </a:solidFill>
                </a:rPr>
                <a:t>Ticket Booking Logic</a:t>
              </a:r>
              <a:endParaRPr lang="en-US" sz="8000" dirty="0">
                <a:solidFill>
                  <a:schemeClr val="bg1"/>
                </a:solidFill>
                <a:latin typeface="Georgia Pro Light"/>
                <a:ea typeface="Georgia Pro Light"/>
                <a:cs typeface="Georgia Pro Light"/>
                <a:sym typeface="Georgia Pro Light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6256" y="3517448"/>
              <a:ext cx="11099800" cy="54202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</a:rPr>
                <a:t>When the user selects option 2, the program asks how many tickets to book.</a:t>
              </a:r>
            </a:p>
            <a:p>
              <a:endParaRPr lang="en-US" sz="2400" dirty="0">
                <a:solidFill>
                  <a:schemeClr val="bg1"/>
                </a:solidFill>
              </a:endParaRPr>
            </a:p>
            <a:p>
              <a:r>
                <a:rPr lang="en-US" sz="2400" dirty="0">
                  <a:solidFill>
                    <a:schemeClr val="bg1"/>
                  </a:solidFill>
                </a:rPr>
                <a:t>Validation checks: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- Tickets must be greater than 0.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- Booked tickets + new tickets ≤ total seats.</a:t>
              </a:r>
            </a:p>
            <a:p>
              <a:endParaRPr lang="en-US" sz="2400" dirty="0">
                <a:solidFill>
                  <a:schemeClr val="bg1"/>
                </a:solidFill>
              </a:endParaRPr>
            </a:p>
            <a:p>
              <a:r>
                <a:rPr lang="en-US" sz="2400" dirty="0">
                  <a:solidFill>
                    <a:schemeClr val="bg1"/>
                  </a:solidFill>
                </a:rPr>
                <a:t>If valid, </a:t>
              </a:r>
              <a:r>
                <a:rPr lang="en-US" sz="2400" dirty="0" err="1">
                  <a:solidFill>
                    <a:schemeClr val="bg1"/>
                  </a:solidFill>
                </a:rPr>
                <a:t>bookedSeats</a:t>
              </a:r>
              <a:r>
                <a:rPr lang="en-US" sz="2400" dirty="0">
                  <a:solidFill>
                    <a:schemeClr val="bg1"/>
                  </a:solidFill>
                </a:rPr>
                <a:t> is updated and </a:t>
              </a:r>
              <a:r>
                <a:rPr lang="en-US" sz="2400" dirty="0" err="1">
                  <a:solidFill>
                    <a:schemeClr val="bg1"/>
                  </a:solidFill>
                </a:rPr>
                <a:t>totalAmount</a:t>
              </a:r>
              <a:r>
                <a:rPr lang="en-US" sz="2400" dirty="0">
                  <a:solidFill>
                    <a:schemeClr val="bg1"/>
                  </a:solidFill>
                </a:rPr>
                <a:t> = tickets × </a:t>
              </a:r>
              <a:r>
                <a:rPr lang="en-US" sz="2400" dirty="0" err="1">
                  <a:solidFill>
                    <a:schemeClr val="bg1"/>
                  </a:solidFill>
                </a:rPr>
                <a:t>ticketPrice</a:t>
              </a:r>
              <a:r>
                <a:rPr lang="en-US" sz="2400" dirty="0">
                  <a:solidFill>
                    <a:schemeClr val="bg1"/>
                  </a:solidFill>
                </a:rPr>
                <a:t>.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Then the system displays booking details and remaining seats.</a:t>
              </a:r>
            </a:p>
            <a:p>
              <a:pPr marL="0" lvl="0" indent="0" algn="l">
                <a:lnSpc>
                  <a:spcPts val="2940"/>
                </a:lnSpc>
              </a:pPr>
              <a:endParaRPr lang="en-US" sz="21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7B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716756"/>
            <a:ext cx="8324850" cy="6296155"/>
            <a:chOff x="0" y="66675"/>
            <a:chExt cx="11099800" cy="8394876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3009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8800"/>
                </a:lnSpc>
              </a:pPr>
              <a:r>
                <a:rPr lang="en-US" sz="8000" dirty="0">
                  <a:solidFill>
                    <a:schemeClr val="bg1"/>
                  </a:solidFill>
                </a:rPr>
                <a:t>Ticket Cancellation Logic</a:t>
              </a:r>
              <a:endParaRPr lang="en-US" sz="8000" dirty="0">
                <a:solidFill>
                  <a:schemeClr val="bg1"/>
                </a:solidFill>
                <a:latin typeface="Georgia Pro Light"/>
                <a:ea typeface="Georgia Pro Light"/>
                <a:cs typeface="Georgia Pro Light"/>
                <a:sym typeface="Georgia Pro Light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533704"/>
              <a:ext cx="11099800" cy="49278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</a:rPr>
                <a:t>If the user selects option 3, they can cancel previously booked tickets.</a:t>
              </a:r>
            </a:p>
            <a:p>
              <a:endParaRPr lang="en-US" sz="2400" dirty="0">
                <a:solidFill>
                  <a:schemeClr val="bg1"/>
                </a:solidFill>
              </a:endParaRPr>
            </a:p>
            <a:p>
              <a:r>
                <a:rPr lang="en-US" sz="2400" dirty="0">
                  <a:solidFill>
                    <a:schemeClr val="bg1"/>
                  </a:solidFill>
                </a:rPr>
                <a:t>Validation checks: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- Tickets to cancel must be &gt; 0.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- Tickets to cancel ≤ </a:t>
              </a:r>
              <a:r>
                <a:rPr lang="en-US" sz="2400" dirty="0" err="1">
                  <a:solidFill>
                    <a:schemeClr val="bg1"/>
                  </a:solidFill>
                </a:rPr>
                <a:t>bookedSeats</a:t>
              </a:r>
              <a:r>
                <a:rPr lang="en-US" sz="2400" dirty="0">
                  <a:solidFill>
                    <a:schemeClr val="bg1"/>
                  </a:solidFill>
                </a:rPr>
                <a:t>.</a:t>
              </a:r>
            </a:p>
            <a:p>
              <a:endParaRPr lang="en-US" sz="2400" dirty="0">
                <a:solidFill>
                  <a:schemeClr val="bg1"/>
                </a:solidFill>
              </a:endParaRPr>
            </a:p>
            <a:p>
              <a:r>
                <a:rPr lang="en-US" sz="2400" dirty="0">
                  <a:solidFill>
                    <a:schemeClr val="bg1"/>
                  </a:solidFill>
                </a:rPr>
                <a:t>After successful cancellation, </a:t>
              </a:r>
              <a:r>
                <a:rPr lang="en-US" sz="2400" dirty="0" err="1">
                  <a:solidFill>
                    <a:schemeClr val="bg1"/>
                  </a:solidFill>
                </a:rPr>
                <a:t>bookedSeats</a:t>
              </a:r>
              <a:r>
                <a:rPr lang="en-US" sz="2400" dirty="0">
                  <a:solidFill>
                    <a:schemeClr val="bg1"/>
                  </a:solidFill>
                </a:rPr>
                <a:t> decreases and the system updates remaining seats.</a:t>
              </a:r>
            </a:p>
            <a:p>
              <a:pPr marL="0" lvl="0" indent="0" algn="l">
                <a:lnSpc>
                  <a:spcPts val="2940"/>
                </a:lnSpc>
              </a:pPr>
              <a:endParaRPr lang="en-US" sz="2100" dirty="0">
                <a:solidFill>
                  <a:srgbClr val="F1FAEE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DA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50748" y="716756"/>
            <a:ext cx="8340852" cy="7773481"/>
            <a:chOff x="-21336" y="66675"/>
            <a:chExt cx="11121136" cy="10364645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15046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8800"/>
                </a:lnSpc>
              </a:pPr>
              <a:r>
                <a:rPr lang="en-US" sz="8000" dirty="0">
                  <a:solidFill>
                    <a:schemeClr val="bg1"/>
                  </a:solidFill>
                </a:rPr>
                <a:t>Output Example</a:t>
              </a:r>
              <a:endParaRPr lang="en-US" sz="8000" dirty="0">
                <a:solidFill>
                  <a:schemeClr val="bg1"/>
                </a:solidFill>
                <a:latin typeface="Georgia Pro Light"/>
                <a:ea typeface="Georgia Pro Light"/>
                <a:cs typeface="Georgia Pro Light"/>
                <a:sym typeface="Georgia Pro Light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-21336" y="3533703"/>
              <a:ext cx="11099800" cy="68976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</a:rPr>
                <a:t>=============================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CINEMA TICKET BOOKING SYSTEM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=============================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1. View Available Seats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2. Book Tickets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3. Cancel Tickets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4. Exit</a:t>
              </a:r>
            </a:p>
            <a:p>
              <a:endParaRPr lang="en-US" sz="2400" dirty="0">
                <a:solidFill>
                  <a:schemeClr val="bg1"/>
                </a:solidFill>
              </a:endParaRPr>
            </a:p>
            <a:p>
              <a:r>
                <a:rPr lang="en-US" sz="2400" dirty="0">
                  <a:solidFill>
                    <a:schemeClr val="bg1"/>
                  </a:solidFill>
                </a:rPr>
                <a:t>Example: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Booking 3 tickets @ Rs.400 each = Rs.1200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Remaining Seats: 47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Cancellation Example: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Cancelled 2 tickets, Remaining Seats: 49</a:t>
              </a:r>
            </a:p>
            <a:p>
              <a:pPr marL="0" lvl="0" indent="0" algn="l">
                <a:lnSpc>
                  <a:spcPts val="2940"/>
                </a:lnSpc>
              </a:pPr>
              <a:endParaRPr lang="en-US" sz="21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716757"/>
            <a:ext cx="8324850" cy="4524556"/>
            <a:chOff x="0" y="66675"/>
            <a:chExt cx="11099800" cy="9877356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15046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8800"/>
                </a:lnSpc>
              </a:pPr>
              <a:r>
                <a:rPr lang="en-US" sz="8000" dirty="0">
                  <a:solidFill>
                    <a:schemeClr val="bg1"/>
                  </a:solidFill>
                </a:rPr>
                <a:t>Lessons Learned</a:t>
              </a:r>
              <a:endParaRPr lang="en-US" sz="8000" dirty="0">
                <a:solidFill>
                  <a:schemeClr val="bg1"/>
                </a:solidFill>
                <a:latin typeface="Georgia Pro Light"/>
                <a:ea typeface="Georgia Pro Light"/>
                <a:cs typeface="Georgia Pro Light"/>
                <a:sym typeface="Georgia Pro Light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5019607"/>
              <a:ext cx="11099800" cy="49244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</a:rPr>
                <a:t>- Importance of Input Validation: Preventing incorrect or invalid data.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- Control Structures: Efficient use of loops and switch-case for menu-driven programs.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- Modular Thinking: Handling separate functionalities for booking, canceling, and displaying seats.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- Debugging Skills: Learning to identify and correct logical and runtime errors.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- Practical Understanding: Simulating real-world booking logic with C programming</a:t>
              </a:r>
              <a:r>
                <a:rPr lang="en-US" sz="2100" dirty="0" smtClean="0">
                  <a:solidFill>
                    <a:schemeClr val="bg1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  <a:endParaRPr lang="en-US" sz="21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716756"/>
            <a:ext cx="8324850" cy="7169944"/>
            <a:chOff x="0" y="66675"/>
            <a:chExt cx="11099800" cy="5215033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15202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8800"/>
                </a:lnSpc>
              </a:pPr>
              <a:r>
                <a:rPr lang="en-US" sz="8000" dirty="0">
                  <a:solidFill>
                    <a:schemeClr val="bg1"/>
                  </a:solidFill>
                </a:rPr>
                <a:t>Difficulties Faced and Resolutions</a:t>
              </a:r>
              <a:endParaRPr lang="en-US" sz="8000" dirty="0">
                <a:solidFill>
                  <a:schemeClr val="bg1"/>
                </a:solidFill>
                <a:latin typeface="Georgia Pro Light"/>
                <a:ea typeface="Georgia Pro Light"/>
                <a:cs typeface="Georgia Pro Light"/>
                <a:sym typeface="Georgia Pro Light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047803"/>
              <a:ext cx="11099800" cy="32339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</a:rPr>
                <a:t>1. Input Validation Errors: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Handled invalid or negative ticket inputs using conditional checks.</a:t>
              </a:r>
            </a:p>
            <a:p>
              <a:endParaRPr lang="en-US" sz="2400" dirty="0">
                <a:solidFill>
                  <a:schemeClr val="bg1"/>
                </a:solidFill>
              </a:endParaRPr>
            </a:p>
            <a:p>
              <a:r>
                <a:rPr lang="en-US" sz="2400" dirty="0">
                  <a:solidFill>
                    <a:schemeClr val="bg1"/>
                  </a:solidFill>
                </a:rPr>
                <a:t>2. Overbooking Issues: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Added validation to prevent booking more tickets than available seats.</a:t>
              </a:r>
            </a:p>
            <a:p>
              <a:endParaRPr lang="en-US" sz="2400" dirty="0">
                <a:solidFill>
                  <a:schemeClr val="bg1"/>
                </a:solidFill>
              </a:endParaRPr>
            </a:p>
            <a:p>
              <a:r>
                <a:rPr lang="en-US" sz="2400" dirty="0">
                  <a:solidFill>
                    <a:schemeClr val="bg1"/>
                  </a:solidFill>
                </a:rPr>
                <a:t>3. Data Loss After Exit: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System currently does not store data after exit (can be fixed using file handling).</a:t>
              </a:r>
            </a:p>
            <a:p>
              <a:endParaRPr lang="en-US" sz="2400" dirty="0">
                <a:solidFill>
                  <a:schemeClr val="bg1"/>
                </a:solidFill>
              </a:endParaRPr>
            </a:p>
            <a:p>
              <a:r>
                <a:rPr lang="en-US" sz="2400" dirty="0">
                  <a:solidFill>
                    <a:schemeClr val="bg1"/>
                  </a:solidFill>
                </a:rPr>
                <a:t>4. Display Formatting: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Used system("</a:t>
              </a:r>
              <a:r>
                <a:rPr lang="en-US" sz="2400" dirty="0" err="1">
                  <a:solidFill>
                    <a:schemeClr val="bg1"/>
                  </a:solidFill>
                </a:rPr>
                <a:t>cls</a:t>
              </a:r>
              <a:r>
                <a:rPr lang="en-US" sz="2400" dirty="0">
                  <a:solidFill>
                    <a:schemeClr val="bg1"/>
                  </a:solidFill>
                </a:rPr>
                <a:t>") to clear screen for better console </a:t>
              </a:r>
              <a:r>
                <a:rPr lang="en-US" sz="2400" dirty="0" smtClean="0">
                  <a:solidFill>
                    <a:schemeClr val="bg1"/>
                  </a:solidFill>
                </a:rPr>
                <a:t>readability.</a:t>
              </a:r>
              <a:endParaRPr lang="en-US" sz="21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35069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7B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716756"/>
            <a:ext cx="8324850" cy="4812398"/>
            <a:chOff x="0" y="66675"/>
            <a:chExt cx="11099800" cy="6416528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15546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>
                  <a:solidFill>
                    <a:srgbClr val="F1FAEE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Results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047802"/>
              <a:ext cx="11099800" cy="44354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</a:rPr>
                <a:t>The Cinema Ticket Booking System successfully simulates basic ticket counter operations. It demonstrates C programming fundamentals including loops, conditionals, and user input handling. Future improvements may include seat mapping, file-based data storage, and multiple movie screenings.</a:t>
              </a:r>
            </a:p>
            <a:p>
              <a:endParaRPr lang="en-US" sz="2400" dirty="0">
                <a:solidFill>
                  <a:schemeClr val="bg1"/>
                </a:solidFill>
              </a:endParaRPr>
            </a:p>
            <a:p>
              <a:r>
                <a:rPr lang="en-US" sz="2400" dirty="0">
                  <a:solidFill>
                    <a:schemeClr val="bg1"/>
                  </a:solidFill>
                </a:rPr>
                <a:t>This project enhances logical thinking and programming efficiency in procedural languages.</a:t>
              </a:r>
            </a:p>
            <a:p>
              <a:pPr marL="0" lvl="0" indent="0" algn="l">
                <a:lnSpc>
                  <a:spcPts val="2940"/>
                </a:lnSpc>
              </a:pPr>
              <a:endParaRPr lang="en-US" sz="21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7B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81406" y="716756"/>
            <a:ext cx="8410194" cy="1792945"/>
            <a:chOff x="-113792" y="66675"/>
            <a:chExt cx="11213592" cy="2390593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15546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 dirty="0" smtClean="0">
                  <a:solidFill>
                    <a:srgbClr val="F1FAEE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Dry Run Table</a:t>
              </a:r>
              <a:endParaRPr lang="en-US" sz="8000" dirty="0">
                <a:solidFill>
                  <a:srgbClr val="F1FAEE"/>
                </a:solidFill>
                <a:latin typeface="Georgia Pro Light"/>
                <a:ea typeface="Georgia Pro Light"/>
                <a:cs typeface="Georgia Pro Light"/>
                <a:sym typeface="Georgia Pro Light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-113792" y="1982779"/>
              <a:ext cx="11099800" cy="4744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 dirty="0" smtClean="0">
                  <a:solidFill>
                    <a:srgbClr val="F1FAEE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  <a:endParaRPr lang="en-US" sz="2100" dirty="0">
                <a:solidFill>
                  <a:srgbClr val="F1FAEE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pic>
        <p:nvPicPr>
          <p:cNvPr id="14" name="ta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2153834"/>
            <a:ext cx="14173200" cy="763786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DA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219200" y="6994784"/>
            <a:ext cx="6156898" cy="1032074"/>
            <a:chOff x="-944797" y="-47625"/>
            <a:chExt cx="8209197" cy="1376098"/>
          </a:xfrm>
        </p:grpSpPr>
        <p:sp>
          <p:nvSpPr>
            <p:cNvPr id="14" name="TextBox 14"/>
            <p:cNvSpPr txBox="1"/>
            <p:nvPr/>
          </p:nvSpPr>
          <p:spPr>
            <a:xfrm>
              <a:off x="-944797" y="854069"/>
              <a:ext cx="7264400" cy="4744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</a:pPr>
              <a:endParaRPr lang="en-US" sz="2099" dirty="0">
                <a:solidFill>
                  <a:srgbClr val="1D3557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7264400" cy="5886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39"/>
                </a:lnSpc>
              </a:pPr>
              <a:endParaRPr lang="en-US" sz="2599" dirty="0">
                <a:solidFill>
                  <a:srgbClr val="1D3557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4648200" y="6318513"/>
            <a:ext cx="5448300" cy="441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9"/>
              </a:lnSpc>
            </a:pPr>
            <a:endParaRPr lang="en-US" sz="2599" dirty="0">
              <a:solidFill>
                <a:srgbClr val="1D355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3543300" y="4212431"/>
            <a:ext cx="5448300" cy="940210"/>
            <a:chOff x="0" y="-47625"/>
            <a:chExt cx="7264400" cy="1253613"/>
          </a:xfrm>
        </p:grpSpPr>
        <p:sp>
          <p:nvSpPr>
            <p:cNvPr id="20" name="TextBox 20"/>
            <p:cNvSpPr txBox="1"/>
            <p:nvPr/>
          </p:nvSpPr>
          <p:spPr>
            <a:xfrm>
              <a:off x="0" y="731584"/>
              <a:ext cx="7264400" cy="4744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</a:pPr>
              <a:endParaRPr lang="en-US" sz="2099" dirty="0">
                <a:solidFill>
                  <a:srgbClr val="1D3557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7264400" cy="5886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39"/>
                </a:lnSpc>
              </a:pPr>
              <a:endParaRPr lang="en-US" sz="2599" dirty="0">
                <a:solidFill>
                  <a:srgbClr val="1D3557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666750" y="851535"/>
            <a:ext cx="10610850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9600" u="none" strike="noStrike" dirty="0">
                <a:solidFill>
                  <a:srgbClr val="457B9D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607</Words>
  <Application>Microsoft Office PowerPoint</Application>
  <PresentationFormat>Custom</PresentationFormat>
  <Paragraphs>86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Georgia Pro Light</vt:lpstr>
      <vt:lpstr>Calibri</vt:lpstr>
      <vt:lpstr>DM Sans</vt:lpstr>
      <vt:lpstr>Arial</vt:lpstr>
      <vt:lpstr>DM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Ticket Booking System</dc:title>
  <dc:creator>Muhammad Sufyan Ali</dc:creator>
  <dc:description>Presentation - Ticket Booking System</dc:description>
  <cp:lastModifiedBy>Mohib Ahmed</cp:lastModifiedBy>
  <cp:revision>10</cp:revision>
  <dcterms:created xsi:type="dcterms:W3CDTF">2006-08-16T00:00:00Z</dcterms:created>
  <dcterms:modified xsi:type="dcterms:W3CDTF">2025-11-13T18:37:49Z</dcterms:modified>
  <dc:identifier>DAG4a4vbvho</dc:identifier>
</cp:coreProperties>
</file>